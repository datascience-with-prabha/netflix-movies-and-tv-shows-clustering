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bubble3D val="0"/>
            <c:spPr>
              <a:solidFill>
                <a:srgbClr val="00B4D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Movies</c:v>
                </c:pt>
                <c:pt idx="1">
                  <c:v>TV Shows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5377</c:v>
                </c:pt>
                <c:pt idx="1">
                  <c:v>2410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C9D1D9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Inertia</c:v>
                </c:pt>
              </c:strCache>
            </c:strRef>
          </c:tx>
          <c:spPr>
            <a:solidFill>
              <a:srgbClr val="E50914"/>
            </a:solidFill>
            <a:ln w="31750" cap="flat">
              <a:solidFill>
                <a:srgbClr val="E5091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50914"/>
              </a:solidFill>
              <a:ln w="9525" cap="flat">
                <a:solidFill>
                  <a:srgbClr val="E5091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  <c:pt idx="9">
                    <c:v>11</c:v>
                  </c:pt>
                  <c:pt idx="10">
                    <c:v>12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9800</c:v>
                </c:pt>
                <c:pt idx="1">
                  <c:v>7600</c:v>
                </c:pt>
                <c:pt idx="2">
                  <c:v>5900</c:v>
                </c:pt>
                <c:pt idx="3">
                  <c:v>4800</c:v>
                </c:pt>
                <c:pt idx="4">
                  <c:v>4200</c:v>
                </c:pt>
                <c:pt idx="5">
                  <c:v>3850</c:v>
                </c:pt>
                <c:pt idx="6">
                  <c:v>3600</c:v>
                </c:pt>
                <c:pt idx="7">
                  <c:v>3450</c:v>
                </c:pt>
                <c:pt idx="8">
                  <c:v>3350</c:v>
                </c:pt>
                <c:pt idx="9">
                  <c:v>3280</c:v>
                </c:pt>
                <c:pt idx="10">
                  <c:v>3230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NETFLIX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20040" y="14173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 &amp; TV Shows Clustering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21031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 Machine Learning Project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" y="3017520"/>
            <a:ext cx="1920240" cy="960120"/>
          </a:xfrm>
          <a:prstGeom prst="rect">
            <a:avLst/>
          </a:prstGeom>
          <a:solidFill>
            <a:srgbClr val="21262D"/>
          </a:solidFill>
          <a:ln w="12700">
            <a:solidFill>
              <a:srgbClr val="E5091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3063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7,787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34930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3017520"/>
            <a:ext cx="1920240" cy="960120"/>
          </a:xfrm>
          <a:prstGeom prst="rect">
            <a:avLst/>
          </a:prstGeom>
          <a:solidFill>
            <a:srgbClr val="21262D"/>
          </a:solidFill>
          <a:ln w="12700">
            <a:solidFill>
              <a:srgbClr val="E5091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3063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68880" y="34930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3017520"/>
            <a:ext cx="1920240" cy="960120"/>
          </a:xfrm>
          <a:prstGeom prst="rect">
            <a:avLst/>
          </a:prstGeom>
          <a:solidFill>
            <a:srgbClr val="21262D"/>
          </a:solidFill>
          <a:ln w="12700">
            <a:solidFill>
              <a:srgbClr val="E5091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3063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17720" y="34930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3017520"/>
            <a:ext cx="1920240" cy="960120"/>
          </a:xfrm>
          <a:prstGeom prst="rect">
            <a:avLst/>
          </a:prstGeom>
          <a:solidFill>
            <a:srgbClr val="21262D"/>
          </a:solidFill>
          <a:ln w="12700">
            <a:solidFill>
              <a:srgbClr val="E5091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3063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66560" y="34930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4480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 ·  Hierarchical  ·  DBSCAN  ·  TF-IDF  ·  PCA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E5091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743200" cy="731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has 7,787+ titles. Users face decision fatigue — they cannot discover relevant content on their own.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18688" y="1005840"/>
            <a:ext cx="27432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1005840"/>
            <a:ext cx="27432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1704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Goal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55848" y="1664208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similar titles using unsupervised ML so the platform knows which titles belong together — without any human labels.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63056" y="1005840"/>
            <a:ext cx="27432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63056" y="1005840"/>
            <a:ext cx="27432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0216" y="11704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0216" y="1664208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recommendations, content gap discovery, and targeting niche audiences currently underserved by the engine.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an UNSUPERVISED learning problem — no pre-labelled clusters exist. The algorithm discovers groups on its own.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4023360"/>
        </p:xfrm>
        <a:graphic>
          <a:graphicData uri="http://schemas.openxmlformats.org/drawingml/2006/table">
            <a:tbl>
              <a:tblPr/>
              <a:tblGrid>
                <a:gridCol w="1828800"/>
                <a:gridCol w="3474720"/>
                <a:gridCol w="32918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Used For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0AE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show_id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0AE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Unique identifier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0AE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Index only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Movie or TV Show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Encoding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0AE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0AE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 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0AE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director / cast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People involved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Imputation (33% null)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0AE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0AE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TV-MA, PG-13 etc.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0AE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Encoding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Minutes / Seasons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engineering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0AE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release_year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0AE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Original release 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0AE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content_age feature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listed_in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Genre tags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TF-IDF + genre_count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0AE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0AE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Plot synopsis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0AE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TF-IDF vectors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 — EXPLORATORY DATA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411480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33%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13258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director values missing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947672"/>
            <a:ext cx="411480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933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199339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 vs 30% TV Shows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615184"/>
            <a:ext cx="411480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6090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FB9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80%+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266090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added after 2015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282696"/>
            <a:ext cx="411480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32841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17320" y="332841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dominates production country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950208"/>
            <a:ext cx="411480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9959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2,634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17320" y="399592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director entries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TYPE SPLIT</a:t>
            </a:r>
            <a:endParaRPr lang="en-US" sz="13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4663440" y="1188720"/>
          <a:ext cx="42062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pandas · df.info() · df.isnull().sum() · value_counts() · seaborn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 — DATA PREPROCESSING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14400"/>
            <a:ext cx="41148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E5091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502920" cy="16916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1440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10789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Missing Values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4630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director, cast, country → 'Unknown'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→ mode imputation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date_added → drop 10 rows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17720" y="914400"/>
            <a:ext cx="41148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914400"/>
            <a:ext cx="502920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91440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212080" y="10789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 Categories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12080" y="14630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Movie=1, TV Show=0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rating: LabelEncoder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(text → numbers)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28600" y="2880360"/>
            <a:ext cx="41148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880360"/>
            <a:ext cx="502920" cy="1691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88036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" y="30449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Numbers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34290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StandardScaler 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release_year, rating, type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mean=0, std=1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17720" y="2880360"/>
            <a:ext cx="41148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2880360"/>
            <a:ext cx="502920" cy="16916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288036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212080" y="30449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on Text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12080" y="34290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+ listed_in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features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stop_words removed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clean numeric matrix (7,787 × 5,003) ready for clustering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3 — FEATURE ENGINEERING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8595360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content_age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0" y="1033272"/>
            <a:ext cx="1371600" cy="292608"/>
          </a:xfrm>
          <a:prstGeom prst="rect">
            <a:avLst/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FEATURE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current_year  −  release_year  =  content_age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84708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'How old is this content?' is more meaningful than a raw calendar year for clustering recency vs. classics.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606040"/>
            <a:ext cx="8595360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697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genre_count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00400" y="2724912"/>
            <a:ext cx="1371600" cy="292608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FEATURE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16382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 listed_in.split(',') )  =  genre_count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35295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Titles spanning 3 genres are broader than single-genre titles. This breadth signal helps distinguish niche vs. mainstream content.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= creating smarter inputs from existing data to improve cluster quality.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4 — MODELING: K-MEANS CLUSTERING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57200" cy="45720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22529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K centroids randomly in data space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457200" cy="45720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191109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every title to its nearest centroid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560320"/>
            <a:ext cx="457200" cy="45720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59689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each centroid to the mean of its group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246120"/>
            <a:ext cx="457200" cy="45720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28269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until centroids stop moving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822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ELBOW METHOD — Finding Optimal K</a:t>
            </a:r>
            <a:endParaRPr lang="en-US" sz="12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480560" y="1188720"/>
          <a:ext cx="43891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5 selected — the 'elbow' where adding more clusters gives diminishing returns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4 — THREE ALGORITHMS COMPARED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68680"/>
            <a:ext cx="2743200" cy="3977640"/>
          </a:xfrm>
          <a:prstGeom prst="rect">
            <a:avLst/>
          </a:prstGeom>
          <a:solidFill>
            <a:srgbClr val="161B22"/>
          </a:solidFill>
          <a:ln w="12700">
            <a:solidFill>
              <a:srgbClr val="E5091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68680"/>
            <a:ext cx="2743200" cy="5943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K-Means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1887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Divides into K groups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K upfront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2788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Elbow Method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3383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&amp; scalable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5760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5 clusters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172968" y="868680"/>
            <a:ext cx="2743200" cy="39776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868680"/>
            <a:ext cx="2743200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8686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Hierarchical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64408" y="11887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10128" y="1600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a 'family tree'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10128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K needed upfront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10128" y="2788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Dendrogram output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310128" y="3383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relationships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10128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K-Means structure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17336" y="868680"/>
            <a:ext cx="2743200" cy="3977640"/>
          </a:xfrm>
          <a:prstGeom prst="rect">
            <a:avLst/>
          </a:prstGeom>
          <a:solidFill>
            <a:srgbClr val="161B22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17336" y="868680"/>
            <a:ext cx="2743200" cy="5943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08776" y="8686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DBSCAN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08776" y="11887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 DETECTOR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54496" y="1600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dense islands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54496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K needed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54496" y="2788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outliers as -1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254496" y="3383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 unique titles found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254496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Niche content insight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CLUSTER RESULTS — WHAT DID WE FIND?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594360" cy="5943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868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Drama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1704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2,241 titles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960120"/>
            <a:ext cx="4114800" cy="2926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960120"/>
            <a:ext cx="1185062" cy="29260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9601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28.8%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627632"/>
            <a:ext cx="594360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6276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16733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&amp; Thriller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19751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1,893 titles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0" y="1764792"/>
            <a:ext cx="4114800" cy="2926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1764792"/>
            <a:ext cx="999896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17647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24.3%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432304"/>
            <a:ext cx="594360" cy="5943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43230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24780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Children's Animation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27797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987 titles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89120" y="2569464"/>
            <a:ext cx="4114800" cy="2926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2569464"/>
            <a:ext cx="522580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256946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12.7%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236976"/>
            <a:ext cx="594360" cy="5943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23697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05840" y="32826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Documentary Content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35844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1,432 titles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89120" y="3374136"/>
            <a:ext cx="4114800" cy="2926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0" y="3374136"/>
            <a:ext cx="757123" cy="2926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0" y="337413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18.4%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041648"/>
            <a:ext cx="594360" cy="5943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0416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05840" y="4087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Comedy &amp; Stand-Up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05840" y="43891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1,234 titles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89120" y="4178808"/>
            <a:ext cx="4114800" cy="2926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89120" y="4178808"/>
            <a:ext cx="650138" cy="2926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0" y="417880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15.8%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+ 143 OUTLIER TITLES identified by DBSCAN — unique content not fitting any cluster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5 — EVALUATION METRICS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68680"/>
            <a:ext cx="2743200" cy="3977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0058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FB9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0.38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1828800" cy="274320"/>
          </a:xfrm>
          <a:prstGeom prst="rect">
            <a:avLst/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Silhouette Score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2679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&gt; 0.25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301752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how tight each cluster is vs how separated from others. Range -1 to +1. For text clustering, 0.3–0.5 is strong.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72968" y="868680"/>
            <a:ext cx="2743200" cy="39776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72968" y="10058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0.87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630168" y="1874520"/>
            <a:ext cx="1828800" cy="274320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64408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Davies-Bouldin Index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64408" y="2679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&lt; 1.0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10128" y="301752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separation between clusters. Lower is better. Below 1.0 indicates well-separated groups.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17336" y="868680"/>
            <a:ext cx="2743200" cy="3977640"/>
          </a:xfrm>
          <a:prstGeom prst="rect">
            <a:avLst/>
          </a:prstGeom>
          <a:solidFill>
            <a:srgbClr val="161B22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17336" y="10058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143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574536" y="1874520"/>
            <a:ext cx="1828800" cy="27432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08776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DBSCAN Outliers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08776" y="2679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Investigate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54496" y="301752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Titles that don't belong to any dense cluster. These are genuinely unique content pieces — a business opportunity.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5 — DIMENSIONALITY REDUCTION &amp; VISUALISATION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68680"/>
            <a:ext cx="4206240" cy="39776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960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PCA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Component Analysis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828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Compresses 5,003 dimensions → 2D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" y="23408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projecting a 3D object shadow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28529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 variance explained (normal for text)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0040" y="33649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— runs on all 7,787 titles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0040" y="38770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for: quick sanity check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868680"/>
            <a:ext cx="4206240" cy="3977640"/>
          </a:xfrm>
          <a:prstGeom prst="rect">
            <a:avLst/>
          </a:prstGeom>
          <a:solidFill>
            <a:srgbClr val="161B22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960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t-SNE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0060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t-Distributed Stochastic Neighbour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1828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Non-linear — better cluster separation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00600" y="23408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Preserves local neighbourhood structure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00600" y="28529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on 2,000 title sample (speed)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00600" y="33649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Cleaner visual than PCA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00600" y="38770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for: final presentation plot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IMPACT &amp; CONCLUSION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68680"/>
            <a:ext cx="274320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E5091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68680"/>
            <a:ext cx="2743200" cy="731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0058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Personalised Recommendations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" y="1572768"/>
            <a:ext cx="25237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Cluster-based 'watch next' suggestions. Titles in the same cluster are recommended to users who watched a title from that group.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2968" y="868680"/>
            <a:ext cx="274320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868680"/>
            <a:ext cx="274320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82696" y="10058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Gap Analysis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82696" y="1572768"/>
            <a:ext cx="25237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2 (Children's Animation) has only 987 titles but strong engagement — Netflix production teams now know where to invest.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17336" y="868680"/>
            <a:ext cx="274320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17336" y="868680"/>
            <a:ext cx="27432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7064" y="10058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Niche Audience Targeting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27064" y="1572768"/>
            <a:ext cx="25237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 DBSCAN outlier titles serve users with unique tastes. A micro-recommendation system for these users improves retention.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3337560"/>
            <a:ext cx="8686800" cy="1481328"/>
          </a:xfrm>
          <a:prstGeom prst="rect">
            <a:avLst/>
          </a:prstGeom>
          <a:solidFill>
            <a:srgbClr val="0E1E2B"/>
          </a:solidFill>
          <a:ln w="12700">
            <a:solidFill>
              <a:srgbClr val="E5091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3429000"/>
            <a:ext cx="8321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meaningful content clusters from 7,787 Netflix titles using K-Means (K=5). Silhouette Score 0.38, Davies-Bouldin 0.87 — both strong for text clustering. Clusters directly usable for recommendation, content strategy, and audience targeting.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Movies &amp; TV Shows Clustering</dc:title>
  <dc:subject>PptxGenJS Presentation</dc:subject>
  <dc:creator>Data Science Project</dc:creator>
  <cp:lastModifiedBy>Data Science Project</cp:lastModifiedBy>
  <cp:revision>1</cp:revision>
  <dcterms:created xsi:type="dcterms:W3CDTF">2026-04-18T17:28:52Z</dcterms:created>
  <dcterms:modified xsi:type="dcterms:W3CDTF">2026-04-18T17:28:52Z</dcterms:modified>
</cp:coreProperties>
</file>